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3"/>
  </p:notesMasterIdLst>
  <p:sldIdLst>
    <p:sldId id="256" r:id="rId2"/>
    <p:sldId id="260" r:id="rId3"/>
    <p:sldId id="259" r:id="rId4"/>
    <p:sldId id="261" r:id="rId5"/>
    <p:sldId id="262" r:id="rId6"/>
    <p:sldId id="263" r:id="rId7"/>
    <p:sldId id="265" r:id="rId8"/>
    <p:sldId id="267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24"/>
    </p:embeddedFont>
    <p:embeddedFont>
      <p:font typeface="Fira Sans Condensed Medium" panose="020B0603050000020004" pitchFamily="34" charset="0"/>
      <p:regular r:id="rId25"/>
      <p:bold r:id="rId26"/>
      <p:italic r:id="rId27"/>
      <p:boldItalic r:id="rId28"/>
    </p:embeddedFont>
    <p:embeddedFont>
      <p:font typeface="Fira Sans Extra Condensed Medium" panose="020B0604020202020204" charset="0"/>
      <p:regular r:id="rId29"/>
      <p:bold r:id="rId30"/>
      <p:italic r:id="rId31"/>
      <p:boldItalic r:id="rId32"/>
    </p:embeddedFont>
    <p:embeddedFont>
      <p:font typeface="Maven Pro" panose="020B0604020202020204" charset="0"/>
      <p:regular r:id="rId33"/>
      <p:bold r:id="rId34"/>
    </p:embeddedFont>
    <p:embeddedFont>
      <p:font typeface="Share Tech" panose="020B060402020202020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7F812B-8CA2-4DCC-8CD6-10899E78B72D}">
  <a:tblStyle styleId="{6B7F812B-8CA2-4DCC-8CD6-10899E78B7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6c4305b0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6c4305b0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32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6c4305b0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6c4305b01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6c4305b01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6c4305b01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6c4305b01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6c4305b01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6c4305b01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6c4305b01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6c4305b01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6c4305b01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6c4305b01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6c4305b01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144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 txBox="1">
            <a:spLocks noGrp="1"/>
          </p:cNvSpPr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ubTitle" idx="1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ctrTitle" idx="2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subTitle" idx="3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ctrTitle" idx="4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subTitle" idx="5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ctrTitle" idx="6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subTitle" idx="7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ctrTitle" idx="8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303600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16650" y="461267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1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ctrTitle" idx="2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3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09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63" r:id="rId6"/>
    <p:sldLayoutId id="2147483667" r:id="rId7"/>
    <p:sldLayoutId id="2147483668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"/>
          <p:cNvSpPr txBox="1">
            <a:spLocks noGrp="1"/>
          </p:cNvSpPr>
          <p:nvPr>
            <p:ph type="ctrTitle"/>
          </p:nvPr>
        </p:nvSpPr>
        <p:spPr>
          <a:xfrm>
            <a:off x="1274680" y="641695"/>
            <a:ext cx="6504057" cy="29539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400" b="1" dirty="0"/>
              <a:t>Time-Sensitive Emotion Analysis of Financial News Headlines for Stock Market Prediction</a:t>
            </a:r>
            <a:endParaRPr sz="4400" dirty="0"/>
          </a:p>
        </p:txBody>
      </p:sp>
      <p:sp>
        <p:nvSpPr>
          <p:cNvPr id="437" name="Google Shape;437;p25"/>
          <p:cNvSpPr/>
          <p:nvPr/>
        </p:nvSpPr>
        <p:spPr>
          <a:xfrm>
            <a:off x="1917281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7047944" y="3537816"/>
            <a:ext cx="57834" cy="57834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230788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6293004" y="835609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6112321" y="2923081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2924242" y="4302208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25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44" name="Google Shape;444;p25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7" name="Google Shape;447;p25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25"/>
          <p:cNvSpPr/>
          <p:nvPr/>
        </p:nvSpPr>
        <p:spPr>
          <a:xfrm>
            <a:off x="7446601" y="3454956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25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1" name="Google Shape;451;p25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25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54" name="Google Shape;454;p25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25"/>
          <p:cNvGrpSpPr/>
          <p:nvPr/>
        </p:nvGrpSpPr>
        <p:grpSpPr>
          <a:xfrm>
            <a:off x="4467456" y="4113596"/>
            <a:ext cx="199001" cy="867198"/>
            <a:chOff x="4475150" y="4052605"/>
            <a:chExt cx="199001" cy="867198"/>
          </a:xfrm>
        </p:grpSpPr>
        <p:sp>
          <p:nvSpPr>
            <p:cNvPr id="458" name="Google Shape;458;p2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7252A30-E916-EB28-C43B-60D64F926A11}"/>
              </a:ext>
            </a:extLst>
          </p:cNvPr>
          <p:cNvSpPr txBox="1"/>
          <p:nvPr/>
        </p:nvSpPr>
        <p:spPr>
          <a:xfrm>
            <a:off x="6258684" y="3785442"/>
            <a:ext cx="2375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D. Manogyna Satya Reddy</a:t>
            </a:r>
          </a:p>
          <a:p>
            <a:r>
              <a:rPr lang="en-US" dirty="0">
                <a:solidFill>
                  <a:schemeClr val="bg1"/>
                </a:solidFill>
              </a:rPr>
              <a:t>Tanushree Rathore</a:t>
            </a:r>
          </a:p>
          <a:p>
            <a:r>
              <a:rPr lang="en-US" dirty="0">
                <a:solidFill>
                  <a:schemeClr val="bg1"/>
                </a:solidFill>
              </a:rPr>
              <a:t>K. Lakshmi Sowjanya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9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6153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573" name="Google Shape;573;p29"/>
          <p:cNvSpPr txBox="1">
            <a:spLocks noGrp="1"/>
          </p:cNvSpPr>
          <p:nvPr>
            <p:ph type="subTitle" idx="1"/>
          </p:nvPr>
        </p:nvSpPr>
        <p:spPr>
          <a:xfrm>
            <a:off x="821863" y="1484925"/>
            <a:ext cx="6792516" cy="188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Most existing stock prediction approaches treat all financial headlines equally and analyze only sentiment polarity. This ignores the </a:t>
            </a:r>
            <a:r>
              <a:rPr lang="en-US" sz="1800" b="1" dirty="0"/>
              <a:t>temporal effect</a:t>
            </a:r>
            <a:r>
              <a:rPr lang="en-US" sz="1800" dirty="0"/>
              <a:t> of news and the </a:t>
            </a:r>
            <a:r>
              <a:rPr lang="en-US" sz="1800" b="1" dirty="0"/>
              <a:t>intensity of emotions</a:t>
            </a:r>
            <a:r>
              <a:rPr lang="en-US" sz="1800" dirty="0"/>
              <a:t> in headlines. </a:t>
            </a:r>
          </a:p>
          <a:p>
            <a:r>
              <a:rPr lang="en-US" sz="1800" i="1" dirty="0"/>
              <a:t>Can incorporating both time sensitivity and emotional tones into sentiment analysis improve short-term stock market prediction accuracy compared to treating all news equally?</a:t>
            </a: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92" name="Google Shape;592;p29"/>
          <p:cNvCxnSpPr>
            <a:cxnSpLocks/>
          </p:cNvCxnSpPr>
          <p:nvPr/>
        </p:nvCxnSpPr>
        <p:spPr>
          <a:xfrm>
            <a:off x="931234" y="1484926"/>
            <a:ext cx="2543700" cy="2202000"/>
          </a:xfrm>
          <a:prstGeom prst="bentConnector3">
            <a:avLst>
              <a:gd name="adj1" fmla="val -9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29"/>
          <p:cNvCxnSpPr>
            <a:cxnSpLocks/>
          </p:cNvCxnSpPr>
          <p:nvPr/>
        </p:nvCxnSpPr>
        <p:spPr>
          <a:xfrm flipH="1">
            <a:off x="7041079" y="1484925"/>
            <a:ext cx="1146600" cy="2563800"/>
          </a:xfrm>
          <a:prstGeom prst="bentConnector4">
            <a:avLst>
              <a:gd name="adj1" fmla="val -20768"/>
              <a:gd name="adj2" fmla="val 100745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29"/>
          <p:cNvSpPr/>
          <p:nvPr/>
        </p:nvSpPr>
        <p:spPr>
          <a:xfrm>
            <a:off x="923634" y="3637035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9"/>
          <p:cNvSpPr/>
          <p:nvPr/>
        </p:nvSpPr>
        <p:spPr>
          <a:xfrm>
            <a:off x="8282034" y="2960760"/>
            <a:ext cx="121172" cy="121198"/>
          </a:xfrm>
          <a:custGeom>
            <a:avLst/>
            <a:gdLst/>
            <a:ahLst/>
            <a:cxnLst/>
            <a:rect l="l" t="t" r="r" b="b"/>
            <a:pathLst>
              <a:path w="4624" h="4625" extrusionOk="0">
                <a:moveTo>
                  <a:pt x="0" y="1"/>
                </a:moveTo>
                <a:lnTo>
                  <a:pt x="0" y="4624"/>
                </a:lnTo>
                <a:lnTo>
                  <a:pt x="4624" y="4624"/>
                </a:lnTo>
                <a:lnTo>
                  <a:pt x="4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47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8"/>
          <p:cNvSpPr txBox="1">
            <a:spLocks noGrp="1"/>
          </p:cNvSpPr>
          <p:nvPr>
            <p:ph type="body" idx="1"/>
          </p:nvPr>
        </p:nvSpPr>
        <p:spPr>
          <a:xfrm>
            <a:off x="521548" y="892183"/>
            <a:ext cx="7857209" cy="3486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dirty="0">
                <a:latin typeface="Bahnschrift Light" panose="020B0502040204020203" pitchFamily="34" charset="0"/>
              </a:rPr>
              <a:t>Traditional stock market prediction studies rely on sentiment polarity (positive, negative, neutral) to interpret financial news headlines. However, this approach ignores two crucial aspects: </a:t>
            </a:r>
            <a:r>
              <a:rPr lang="en-US" sz="1600" b="1" dirty="0">
                <a:latin typeface="Bahnschrift Light" panose="020B0502040204020203" pitchFamily="34" charset="0"/>
              </a:rPr>
              <a:t>emotional tone</a:t>
            </a:r>
            <a:r>
              <a:rPr lang="en-US" sz="1600" dirty="0">
                <a:latin typeface="Bahnschrift Light" panose="020B0502040204020203" pitchFamily="34" charset="0"/>
              </a:rPr>
              <a:t> (fear, optimism, uncertainty, trust) and </a:t>
            </a:r>
            <a:r>
              <a:rPr lang="en-US" sz="1600" b="1" dirty="0">
                <a:latin typeface="Bahnschrift Light" panose="020B0502040204020203" pitchFamily="34" charset="0"/>
              </a:rPr>
              <a:t>time sensitivity</a:t>
            </a:r>
            <a:r>
              <a:rPr lang="en-US" sz="1600" dirty="0">
                <a:latin typeface="Bahnschrift Light" panose="020B0502040204020203" pitchFamily="34" charset="0"/>
              </a:rPr>
              <a:t> of news releases. For instance, negative news published pre-market can trigger immediate sell-offs, whereas the same news post-market mainly impacts the next trading session.</a:t>
            </a:r>
          </a:p>
          <a:p>
            <a:pPr marL="114300" indent="0">
              <a:buNone/>
            </a:pPr>
            <a:r>
              <a:rPr lang="en-US" sz="1600" dirty="0">
                <a:latin typeface="Bahnschrift Light" panose="020B0502040204020203" pitchFamily="34" charset="0"/>
              </a:rPr>
              <a:t>This study proposes a </a:t>
            </a:r>
            <a:r>
              <a:rPr lang="en-US" sz="1600" b="1" dirty="0">
                <a:latin typeface="Bahnschrift Light" panose="020B0502040204020203" pitchFamily="34" charset="0"/>
              </a:rPr>
              <a:t>time-sensitive emotion-based framework</a:t>
            </a:r>
            <a:r>
              <a:rPr lang="en-US" sz="1600" dirty="0">
                <a:latin typeface="Bahnschrift Light" panose="020B0502040204020203" pitchFamily="34" charset="0"/>
              </a:rPr>
              <a:t> that classifies financial headlines by both </a:t>
            </a:r>
            <a:r>
              <a:rPr lang="en-US" sz="1600" b="1" dirty="0">
                <a:latin typeface="Bahnschrift Light" panose="020B0502040204020203" pitchFamily="34" charset="0"/>
              </a:rPr>
              <a:t>emotional tone</a:t>
            </a:r>
            <a:r>
              <a:rPr lang="en-US" sz="1600" dirty="0">
                <a:latin typeface="Bahnschrift Light" panose="020B0502040204020203" pitchFamily="34" charset="0"/>
              </a:rPr>
              <a:t> and </a:t>
            </a:r>
            <a:r>
              <a:rPr lang="en-US" sz="1600" b="1" dirty="0">
                <a:latin typeface="Bahnschrift Light" panose="020B0502040204020203" pitchFamily="34" charset="0"/>
              </a:rPr>
              <a:t>release timing</a:t>
            </a:r>
            <a:r>
              <a:rPr lang="en-US" sz="1600" dirty="0">
                <a:latin typeface="Bahnschrift Light" panose="020B0502040204020203" pitchFamily="34" charset="0"/>
              </a:rPr>
              <a:t> (pre-market, intra-day, post-market). We compare two approaches: (1) equal treatment of all headlines, and (2) </a:t>
            </a:r>
            <a:r>
              <a:rPr lang="en-US" sz="1600" b="1" dirty="0">
                <a:latin typeface="Bahnschrift Light" panose="020B0502040204020203" pitchFamily="34" charset="0"/>
              </a:rPr>
              <a:t>time-sensitive weighting</a:t>
            </a:r>
            <a:r>
              <a:rPr lang="en-US" sz="1600" dirty="0">
                <a:latin typeface="Bahnschrift Light" panose="020B0502040204020203" pitchFamily="34" charset="0"/>
              </a:rPr>
              <a:t>. Using machine learning and deep learning models, we demonstrate that integrating both </a:t>
            </a:r>
            <a:r>
              <a:rPr lang="en-US" sz="1600" b="1" dirty="0">
                <a:latin typeface="Bahnschrift Light" panose="020B0502040204020203" pitchFamily="34" charset="0"/>
              </a:rPr>
              <a:t>emotion intensity</a:t>
            </a:r>
            <a:r>
              <a:rPr lang="en-US" sz="1600" dirty="0">
                <a:latin typeface="Bahnschrift Light" panose="020B0502040204020203" pitchFamily="34" charset="0"/>
              </a:rPr>
              <a:t> and </a:t>
            </a:r>
            <a:r>
              <a:rPr lang="en-US" sz="1600" b="1" dirty="0">
                <a:latin typeface="Bahnschrift Light" panose="020B0502040204020203" pitchFamily="34" charset="0"/>
              </a:rPr>
              <a:t>timing</a:t>
            </a:r>
            <a:r>
              <a:rPr lang="en-US" sz="1600" dirty="0">
                <a:latin typeface="Bahnschrift Light" panose="020B0502040204020203" pitchFamily="34" charset="0"/>
              </a:rPr>
              <a:t> significantly improves short-term stock movement predictions and provides richer insights into investor behavior.</a:t>
            </a:r>
          </a:p>
        </p:txBody>
      </p:sp>
      <p:sp>
        <p:nvSpPr>
          <p:cNvPr id="507" name="Google Shape;507;p28"/>
          <p:cNvSpPr txBox="1">
            <a:spLocks noGrp="1"/>
          </p:cNvSpPr>
          <p:nvPr>
            <p:ph type="ctrTitle"/>
          </p:nvPr>
        </p:nvSpPr>
        <p:spPr>
          <a:xfrm>
            <a:off x="629056" y="314383"/>
            <a:ext cx="268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ABSTRACT</a:t>
            </a:r>
            <a:endParaRPr dirty="0"/>
          </a:p>
        </p:txBody>
      </p:sp>
      <p:grpSp>
        <p:nvGrpSpPr>
          <p:cNvPr id="528" name="Google Shape;528;p28"/>
          <p:cNvGrpSpPr/>
          <p:nvPr/>
        </p:nvGrpSpPr>
        <p:grpSpPr>
          <a:xfrm>
            <a:off x="7686104" y="-476250"/>
            <a:ext cx="2291257" cy="2922300"/>
            <a:chOff x="4882900" y="-64350"/>
            <a:chExt cx="2493750" cy="2922300"/>
          </a:xfrm>
        </p:grpSpPr>
        <p:sp>
          <p:nvSpPr>
            <p:cNvPr id="529" name="Google Shape;529;p28"/>
            <p:cNvSpPr/>
            <p:nvPr/>
          </p:nvSpPr>
          <p:spPr>
            <a:xfrm>
              <a:off x="4882900" y="2852675"/>
              <a:ext cx="2493750" cy="5275"/>
            </a:xfrm>
            <a:custGeom>
              <a:avLst/>
              <a:gdLst/>
              <a:ahLst/>
              <a:cxnLst/>
              <a:rect l="l" t="t" r="r" b="b"/>
              <a:pathLst>
                <a:path w="99750" h="211" extrusionOk="0">
                  <a:moveTo>
                    <a:pt x="1" y="1"/>
                  </a:moveTo>
                  <a:lnTo>
                    <a:pt x="1" y="210"/>
                  </a:lnTo>
                  <a:lnTo>
                    <a:pt x="99749" y="210"/>
                  </a:lnTo>
                  <a:lnTo>
                    <a:pt x="9974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4987800" y="-64350"/>
              <a:ext cx="1082975" cy="2914922"/>
            </a:xfrm>
            <a:custGeom>
              <a:avLst/>
              <a:gdLst/>
              <a:ahLst/>
              <a:cxnLst/>
              <a:rect l="l" t="t" r="r" b="b"/>
              <a:pathLst>
                <a:path w="43319" h="94995" extrusionOk="0">
                  <a:moveTo>
                    <a:pt x="0" y="1"/>
                  </a:moveTo>
                  <a:lnTo>
                    <a:pt x="0" y="30716"/>
                  </a:lnTo>
                  <a:lnTo>
                    <a:pt x="43127" y="30716"/>
                  </a:lnTo>
                  <a:lnTo>
                    <a:pt x="43127" y="94994"/>
                  </a:lnTo>
                  <a:lnTo>
                    <a:pt x="43319" y="94994"/>
                  </a:lnTo>
                  <a:lnTo>
                    <a:pt x="43319" y="30523"/>
                  </a:lnTo>
                  <a:lnTo>
                    <a:pt x="210" y="30523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6127150" y="2700150"/>
              <a:ext cx="105350" cy="107100"/>
            </a:xfrm>
            <a:custGeom>
              <a:avLst/>
              <a:gdLst/>
              <a:ahLst/>
              <a:cxnLst/>
              <a:rect l="l" t="t" r="r" b="b"/>
              <a:pathLst>
                <a:path w="4214" h="4284" extrusionOk="0">
                  <a:moveTo>
                    <a:pt x="0" y="1"/>
                  </a:moveTo>
                  <a:lnTo>
                    <a:pt x="0" y="4284"/>
                  </a:lnTo>
                  <a:lnTo>
                    <a:pt x="4213" y="4284"/>
                  </a:lnTo>
                  <a:lnTo>
                    <a:pt x="4213" y="4074"/>
                  </a:lnTo>
                  <a:lnTo>
                    <a:pt x="210" y="4074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5950575" y="939175"/>
              <a:ext cx="76075" cy="78250"/>
            </a:xfrm>
            <a:custGeom>
              <a:avLst/>
              <a:gdLst/>
              <a:ahLst/>
              <a:cxnLst/>
              <a:rect l="l" t="t" r="r" b="b"/>
              <a:pathLst>
                <a:path w="3043" h="3130" extrusionOk="0">
                  <a:moveTo>
                    <a:pt x="1" y="0"/>
                  </a:moveTo>
                  <a:lnTo>
                    <a:pt x="1" y="210"/>
                  </a:lnTo>
                  <a:lnTo>
                    <a:pt x="2833" y="210"/>
                  </a:lnTo>
                  <a:lnTo>
                    <a:pt x="2833" y="3130"/>
                  </a:lnTo>
                  <a:lnTo>
                    <a:pt x="3042" y="3130"/>
                  </a:lnTo>
                  <a:lnTo>
                    <a:pt x="304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5032375" y="744525"/>
              <a:ext cx="77800" cy="78250"/>
            </a:xfrm>
            <a:custGeom>
              <a:avLst/>
              <a:gdLst/>
              <a:ahLst/>
              <a:cxnLst/>
              <a:rect l="l" t="t" r="r" b="b"/>
              <a:pathLst>
                <a:path w="3112" h="3130" extrusionOk="0">
                  <a:moveTo>
                    <a:pt x="0" y="1"/>
                  </a:moveTo>
                  <a:lnTo>
                    <a:pt x="0" y="3130"/>
                  </a:lnTo>
                  <a:lnTo>
                    <a:pt x="3112" y="3130"/>
                  </a:lnTo>
                  <a:lnTo>
                    <a:pt x="3112" y="2920"/>
                  </a:lnTo>
                  <a:lnTo>
                    <a:pt x="193" y="2920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0"/>
          <p:cNvSpPr txBox="1">
            <a:spLocks noGrp="1"/>
          </p:cNvSpPr>
          <p:nvPr>
            <p:ph type="ctrTitle" idx="8"/>
          </p:nvPr>
        </p:nvSpPr>
        <p:spPr>
          <a:xfrm>
            <a:off x="621630" y="411675"/>
            <a:ext cx="5888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METHODOLOGY</a:t>
            </a:r>
            <a:endParaRPr sz="3000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9DE15817-73AC-6EEA-4C2B-BF934B26E963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21630" y="1102468"/>
            <a:ext cx="7184095" cy="3197158"/>
          </a:xfrm>
        </p:spPr>
        <p:txBody>
          <a:bodyPr/>
          <a:lstStyle/>
          <a:p>
            <a:r>
              <a:rPr lang="en-IN" sz="1600" b="1" dirty="0"/>
              <a:t>Emotion &amp; Sentiment Detection:</a:t>
            </a:r>
          </a:p>
          <a:p>
            <a:r>
              <a:rPr lang="en-IN" sz="1600" dirty="0"/>
              <a:t>VADER for polarity scoring.</a:t>
            </a:r>
          </a:p>
          <a:p>
            <a:r>
              <a:rPr lang="en-IN" sz="1600" dirty="0" err="1"/>
              <a:t>FinBERT</a:t>
            </a:r>
            <a:r>
              <a:rPr lang="en-IN" sz="1600" dirty="0"/>
              <a:t> for contextual finance-specific sentiment.</a:t>
            </a:r>
          </a:p>
          <a:p>
            <a:r>
              <a:rPr lang="en-IN" sz="1600" dirty="0"/>
              <a:t>NRC Emotion Lexicon for fear, optimism, trust, uncertainty.</a:t>
            </a:r>
          </a:p>
          <a:p>
            <a:r>
              <a:rPr lang="en-IN" sz="1600" b="1" dirty="0"/>
              <a:t>Time-Based Grouping:</a:t>
            </a:r>
          </a:p>
          <a:p>
            <a:r>
              <a:rPr lang="en-IN" sz="1600" dirty="0"/>
              <a:t>Headlines categorized into Pre-market, Intra-day, Post-market.</a:t>
            </a:r>
          </a:p>
          <a:p>
            <a:r>
              <a:rPr lang="en-IN" sz="1600" dirty="0"/>
              <a:t>Weighting applied to emphasize stronger market impact of pre-market/intra-day news.</a:t>
            </a:r>
          </a:p>
          <a:p>
            <a:r>
              <a:rPr lang="en-IN" sz="1600" b="1" dirty="0"/>
              <a:t>Machine learning Models:</a:t>
            </a:r>
          </a:p>
          <a:p>
            <a:r>
              <a:rPr lang="en-IN" sz="1600" dirty="0"/>
              <a:t>Logistic Regression, Random Forest – baseline interpretable models.</a:t>
            </a:r>
          </a:p>
          <a:p>
            <a:r>
              <a:rPr lang="en-IN" sz="1600" dirty="0" err="1"/>
              <a:t>XGBoost</a:t>
            </a:r>
            <a:r>
              <a:rPr lang="en-IN" sz="1600" dirty="0"/>
              <a:t> – gradient boosting for structured features.</a:t>
            </a:r>
          </a:p>
          <a:p>
            <a:r>
              <a:rPr lang="en-IN" sz="1600" dirty="0"/>
              <a:t>LSTM / </a:t>
            </a:r>
            <a:r>
              <a:rPr lang="en-IN" sz="1600" dirty="0" err="1"/>
              <a:t>BiLSTM</a:t>
            </a:r>
            <a:r>
              <a:rPr lang="en-IN" sz="1600" dirty="0"/>
              <a:t> – sequential </a:t>
            </a:r>
            <a:r>
              <a:rPr lang="en-IN" sz="1600" dirty="0" err="1"/>
              <a:t>modeling</a:t>
            </a:r>
            <a:r>
              <a:rPr lang="en-IN" sz="1600" dirty="0"/>
              <a:t> of headline streams.</a:t>
            </a:r>
          </a:p>
          <a:p>
            <a:r>
              <a:rPr lang="en-IN" sz="1600" dirty="0" err="1"/>
              <a:t>FinBERT</a:t>
            </a:r>
            <a:r>
              <a:rPr lang="en-IN" sz="1600" dirty="0"/>
              <a:t> with temporal encoding – captures both semantics and time influence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1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DATASETS</a:t>
            </a:r>
            <a:endParaRPr dirty="0"/>
          </a:p>
        </p:txBody>
      </p:sp>
      <p:sp>
        <p:nvSpPr>
          <p:cNvPr id="682" name="Google Shape;682;p31"/>
          <p:cNvSpPr txBox="1">
            <a:spLocks noGrp="1"/>
          </p:cNvSpPr>
          <p:nvPr>
            <p:ph type="subTitle" idx="4294967295"/>
          </p:nvPr>
        </p:nvSpPr>
        <p:spPr>
          <a:xfrm>
            <a:off x="1140600" y="1212715"/>
            <a:ext cx="7367860" cy="3164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sz="1600" b="1" dirty="0"/>
              <a:t>KAGGLE: </a:t>
            </a:r>
            <a:r>
              <a:rPr lang="en-IN" sz="1600" dirty="0"/>
              <a:t>News Headlines 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b="1" dirty="0"/>
              <a:t>Attributes &amp; Parameters:</a:t>
            </a:r>
            <a:endParaRPr lang="en-IN" sz="1600" dirty="0"/>
          </a:p>
          <a:p>
            <a:pPr marL="114300" indent="0">
              <a:buNone/>
            </a:pPr>
            <a:r>
              <a:rPr lang="en-IN" sz="1600" b="1" dirty="0"/>
              <a:t>Headline Text</a:t>
            </a:r>
            <a:r>
              <a:rPr lang="en-IN" sz="1600" dirty="0"/>
              <a:t> – News content.</a:t>
            </a:r>
          </a:p>
          <a:p>
            <a:pPr marL="114300" indent="0">
              <a:buNone/>
            </a:pPr>
            <a:r>
              <a:rPr lang="en-IN" sz="1600" b="1" dirty="0"/>
              <a:t>Timestamp</a:t>
            </a:r>
            <a:r>
              <a:rPr lang="en-IN" sz="1600" dirty="0"/>
              <a:t> – Trading session: Pre-market, Intra-day, Post-market.</a:t>
            </a:r>
          </a:p>
          <a:p>
            <a:pPr marL="114300" indent="0">
              <a:buNone/>
            </a:pPr>
            <a:r>
              <a:rPr lang="en-IN" sz="1600" b="1" dirty="0"/>
              <a:t>Source</a:t>
            </a:r>
            <a:r>
              <a:rPr lang="en-IN" sz="1600" dirty="0"/>
              <a:t> – News outlet.</a:t>
            </a:r>
          </a:p>
          <a:p>
            <a:pPr marL="114300" indent="0">
              <a:buNone/>
            </a:pPr>
            <a:r>
              <a:rPr lang="en-IN" sz="1600" b="1" dirty="0"/>
              <a:t>Ticker Symbol</a:t>
            </a:r>
            <a:r>
              <a:rPr lang="en-IN" sz="1600" dirty="0"/>
              <a:t> – Company identifier.</a:t>
            </a:r>
          </a:p>
          <a:p>
            <a:pPr marL="114300" indent="0">
              <a:buNone/>
            </a:pPr>
            <a:r>
              <a:rPr lang="en-IN" sz="1600" b="1" dirty="0"/>
              <a:t>Stock Movement</a:t>
            </a:r>
            <a:r>
              <a:rPr lang="en-IN" sz="1600" dirty="0"/>
              <a:t> – Target label: Up, Down, Stable.</a:t>
            </a:r>
          </a:p>
          <a:p>
            <a:pPr marL="114300" indent="0">
              <a:buNone/>
            </a:pPr>
            <a:r>
              <a:rPr lang="en-IN" sz="1600" b="1" dirty="0"/>
              <a:t>Sentiment Polarity</a:t>
            </a:r>
            <a:r>
              <a:rPr lang="en-IN" sz="1600" dirty="0"/>
              <a:t> – Positive, Negative, Neutral (</a:t>
            </a:r>
            <a:r>
              <a:rPr lang="en-IN" sz="1600" dirty="0" err="1"/>
              <a:t>FinBERT</a:t>
            </a:r>
            <a:r>
              <a:rPr lang="en-IN" sz="1600" dirty="0"/>
              <a:t>, VADER).</a:t>
            </a:r>
          </a:p>
          <a:p>
            <a:pPr marL="114300" indent="0">
              <a:buNone/>
            </a:pPr>
            <a:r>
              <a:rPr lang="en-IN" sz="1600" b="1" dirty="0"/>
              <a:t>Emotion Labels</a:t>
            </a:r>
            <a:r>
              <a:rPr lang="en-IN" sz="1600" dirty="0"/>
              <a:t> – Fear, Trust, Optimism, Uncertainty (NRC Lexicon).</a:t>
            </a:r>
          </a:p>
          <a:p>
            <a:pPr marL="0" lvl="0" indent="0" algn="r">
              <a:lnSpc>
                <a:spcPct val="100000"/>
              </a:lnSpc>
              <a:spcAft>
                <a:spcPts val="16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2"/>
          <p:cNvSpPr txBox="1">
            <a:spLocks noGrp="1"/>
          </p:cNvSpPr>
          <p:nvPr>
            <p:ph type="ctrTitle"/>
          </p:nvPr>
        </p:nvSpPr>
        <p:spPr>
          <a:xfrm>
            <a:off x="327924" y="155732"/>
            <a:ext cx="6842233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000" dirty="0"/>
              <a:t>SOFTWARE AND HARDWARE REQUIREMENTS</a:t>
            </a:r>
            <a:endParaRPr sz="3000" dirty="0"/>
          </a:p>
        </p:txBody>
      </p:sp>
      <p:sp>
        <p:nvSpPr>
          <p:cNvPr id="688" name="Google Shape;688;p32"/>
          <p:cNvSpPr txBox="1">
            <a:spLocks noGrp="1"/>
          </p:cNvSpPr>
          <p:nvPr>
            <p:ph type="subTitle" idx="1"/>
          </p:nvPr>
        </p:nvSpPr>
        <p:spPr>
          <a:xfrm>
            <a:off x="1048177" y="2237361"/>
            <a:ext cx="6425043" cy="1491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Software:</a:t>
            </a:r>
            <a:r>
              <a:rPr lang="en-IN" sz="1600" dirty="0"/>
              <a:t> Python 3.x, </a:t>
            </a:r>
            <a:r>
              <a:rPr lang="en-IN" sz="1600" dirty="0" err="1"/>
              <a:t>Jupyter</a:t>
            </a:r>
            <a:r>
              <a:rPr lang="en-IN" sz="1600" dirty="0"/>
              <a:t> Notebook/</a:t>
            </a:r>
            <a:r>
              <a:rPr lang="en-IN" sz="1600" dirty="0" err="1"/>
              <a:t>Colab</a:t>
            </a:r>
            <a:r>
              <a:rPr lang="en-IN" sz="1600" dirty="0"/>
              <a:t>, NLP libraries </a:t>
            </a:r>
          </a:p>
          <a:p>
            <a:endParaRPr lang="en-IN" sz="1600" dirty="0"/>
          </a:p>
          <a:p>
            <a:r>
              <a:rPr lang="en-IN" sz="1600" b="1" dirty="0"/>
              <a:t>Hardware:</a:t>
            </a:r>
            <a:r>
              <a:rPr lang="en-IN" sz="1600" dirty="0"/>
              <a:t> Minimum 8GB RAM, multi-core CPU. </a:t>
            </a:r>
            <a:endParaRPr lang="en-IN" dirty="0"/>
          </a:p>
        </p:txBody>
      </p:sp>
      <p:sp>
        <p:nvSpPr>
          <p:cNvPr id="691" name="Google Shape;691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4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999" name="Google Shape;999;p34"/>
          <p:cNvSpPr txBox="1">
            <a:spLocks noGrp="1"/>
          </p:cNvSpPr>
          <p:nvPr>
            <p:ph type="subTitle" idx="4294967295"/>
          </p:nvPr>
        </p:nvSpPr>
        <p:spPr>
          <a:xfrm>
            <a:off x="524232" y="1551326"/>
            <a:ext cx="8222477" cy="1727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14300" indent="0">
              <a:buNone/>
            </a:pPr>
            <a:r>
              <a:rPr lang="en-US" sz="1600" dirty="0"/>
              <a:t>This study shows that </a:t>
            </a:r>
            <a:r>
              <a:rPr lang="en-US" sz="1600" b="1" dirty="0"/>
              <a:t>time-sensitive, emotion-aware sentiment analysis</a:t>
            </a:r>
            <a:r>
              <a:rPr lang="en-US" sz="1600" dirty="0"/>
              <a:t> improves stock market prediction compared to treating all headlines equally. By integrating </a:t>
            </a:r>
            <a:r>
              <a:rPr lang="en-US" sz="1600" b="1" dirty="0"/>
              <a:t>sentiment polarity, emotional tone, and timing</a:t>
            </a:r>
            <a:r>
              <a:rPr lang="en-US" sz="1600" dirty="0"/>
              <a:t> into ML/DL models, the framework enhances short-term prediction accuracy and provides practical insights for traders and analysts.</a:t>
            </a:r>
          </a:p>
          <a:p>
            <a:pPr marL="114300" indent="0">
              <a:buNone/>
            </a:pPr>
            <a:endParaRPr lang="en-US" sz="16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770C-F712-E909-721D-643EA54A4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641DA-41B5-FFFC-C11C-666DB01FE611}"/>
              </a:ext>
            </a:extLst>
          </p:cNvPr>
          <p:cNvSpPr txBox="1"/>
          <p:nvPr/>
        </p:nvSpPr>
        <p:spPr>
          <a:xfrm>
            <a:off x="548640" y="1331875"/>
            <a:ext cx="6999890" cy="148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ven Pro"/>
              <a:buChar char="●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Dual representation of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polarity + emotional tone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.</a:t>
            </a: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ven Pro"/>
              <a:buChar char="●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Time-sensitive weighting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 for realistic market impact.</a:t>
            </a: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ven Pro"/>
              <a:buChar char="●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Hybrid ML/DL modeling (Logistic Regression,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XGBoost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, LSTM,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FinBERT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).</a:t>
            </a: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ven Pro"/>
              <a:buChar char="●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"/>
                <a:sym typeface="Maven Pro"/>
              </a:rPr>
              <a:t>Higher accuracy and stronger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422095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3"/>
          <p:cNvSpPr txBox="1">
            <a:spLocks noGrp="1"/>
          </p:cNvSpPr>
          <p:nvPr>
            <p:ph type="ctrTitle"/>
          </p:nvPr>
        </p:nvSpPr>
        <p:spPr>
          <a:xfrm>
            <a:off x="562069" y="337796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SCOPE</a:t>
            </a:r>
            <a:endParaRPr dirty="0"/>
          </a:p>
        </p:txBody>
      </p:sp>
      <p:sp>
        <p:nvSpPr>
          <p:cNvPr id="707" name="Google Shape;707;p33"/>
          <p:cNvSpPr txBox="1">
            <a:spLocks noGrp="1"/>
          </p:cNvSpPr>
          <p:nvPr>
            <p:ph type="subTitle" idx="4294967295"/>
          </p:nvPr>
        </p:nvSpPr>
        <p:spPr>
          <a:xfrm>
            <a:off x="504496" y="1160342"/>
            <a:ext cx="7655735" cy="3053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600" dirty="0"/>
              <a:t>This framework can be extended by integrating </a:t>
            </a:r>
            <a:r>
              <a:rPr lang="en-US" sz="1600" b="1" dirty="0"/>
              <a:t>social media sentiment (Twitter, Reddit, </a:t>
            </a:r>
            <a:r>
              <a:rPr lang="en-US" sz="1600" b="1" dirty="0" err="1"/>
              <a:t>StockTwits</a:t>
            </a:r>
            <a:r>
              <a:rPr lang="en-US" sz="1600" b="1" dirty="0"/>
              <a:t>)</a:t>
            </a:r>
            <a:r>
              <a:rPr lang="en-US" sz="1600" dirty="0"/>
              <a:t> with news data for richer context. Real-time streaming models can be developed for </a:t>
            </a:r>
            <a:r>
              <a:rPr lang="en-US" sz="1600" b="1" dirty="0"/>
              <a:t>live market prediction</a:t>
            </a:r>
            <a:r>
              <a:rPr lang="en-US" sz="1600" dirty="0"/>
              <a:t>. Advanced transformer architectures (e.g., GPT-based finance models) may further enhance accuracy. Finally, incorporating </a:t>
            </a:r>
            <a:r>
              <a:rPr lang="en-US" sz="1600" b="1" dirty="0"/>
              <a:t>macroeconomic indicators and global news events</a:t>
            </a:r>
            <a:r>
              <a:rPr lang="en-US" sz="1600" dirty="0"/>
              <a:t> could improve the robustness of predictions across markets.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5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016" name="Google Shape;1016;p35"/>
          <p:cNvSpPr txBox="1"/>
          <p:nvPr/>
        </p:nvSpPr>
        <p:spPr>
          <a:xfrm>
            <a:off x="618825" y="1218941"/>
            <a:ext cx="8084557" cy="306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1. Devlin, J., et al. (2019). </a:t>
            </a:r>
            <a:r>
              <a:rPr lang="en-IN" sz="1800" i="1" dirty="0">
                <a:solidFill>
                  <a:schemeClr val="bg1"/>
                </a:solidFill>
              </a:rPr>
              <a:t>BERT: Pre-training of Deep Bidirectional Transformers for Language Understanding.</a:t>
            </a:r>
            <a:r>
              <a:rPr lang="en-IN" sz="1800" dirty="0">
                <a:solidFill>
                  <a:schemeClr val="bg1"/>
                </a:solidFill>
              </a:rPr>
              <a:t> NAACL.</a:t>
            </a:r>
          </a:p>
          <a:p>
            <a:r>
              <a:rPr lang="en-IN" sz="1800" dirty="0">
                <a:solidFill>
                  <a:schemeClr val="bg1"/>
                </a:solidFill>
              </a:rPr>
              <a:t>2. Araci, D. (2019). </a:t>
            </a:r>
            <a:r>
              <a:rPr lang="en-IN" sz="1800" i="1" dirty="0" err="1">
                <a:solidFill>
                  <a:schemeClr val="bg1"/>
                </a:solidFill>
              </a:rPr>
              <a:t>FinBERT</a:t>
            </a:r>
            <a:r>
              <a:rPr lang="en-IN" sz="1800" i="1" dirty="0">
                <a:solidFill>
                  <a:schemeClr val="bg1"/>
                </a:solidFill>
              </a:rPr>
              <a:t>: Financial Sentiment Analysis with Pre-trained Language Models.</a:t>
            </a:r>
            <a:r>
              <a:rPr lang="en-IN" sz="1800" dirty="0">
                <a:solidFill>
                  <a:schemeClr val="bg1"/>
                </a:solidFill>
              </a:rPr>
              <a:t> arXiv:1908.10063.</a:t>
            </a:r>
          </a:p>
          <a:p>
            <a:r>
              <a:rPr lang="en-IN" sz="1800" dirty="0">
                <a:solidFill>
                  <a:schemeClr val="bg1"/>
                </a:solidFill>
              </a:rPr>
              <a:t>3. Loughran, T., &amp; McDonald, B. (2011). </a:t>
            </a:r>
            <a:r>
              <a:rPr lang="en-IN" sz="1800" i="1" dirty="0">
                <a:solidFill>
                  <a:schemeClr val="bg1"/>
                </a:solidFill>
              </a:rPr>
              <a:t>When is a Liability not a Liability? Textual Analysis, Dictionaries, and 10-Ks.</a:t>
            </a:r>
            <a:r>
              <a:rPr lang="en-IN" sz="1800" dirty="0">
                <a:solidFill>
                  <a:schemeClr val="bg1"/>
                </a:solidFill>
              </a:rPr>
              <a:t> Journal of Finance.</a:t>
            </a:r>
          </a:p>
          <a:p>
            <a:r>
              <a:rPr lang="en-IN" sz="1800" dirty="0">
                <a:solidFill>
                  <a:schemeClr val="bg1"/>
                </a:solidFill>
              </a:rPr>
              <a:t>4. Ding, X., et al. (2015). </a:t>
            </a:r>
            <a:r>
              <a:rPr lang="en-IN" sz="1800" i="1" dirty="0">
                <a:solidFill>
                  <a:schemeClr val="bg1"/>
                </a:solidFill>
              </a:rPr>
              <a:t>Deep Learning for Event-Driven Stock Prediction.</a:t>
            </a:r>
            <a:r>
              <a:rPr lang="en-IN" sz="1800" dirty="0">
                <a:solidFill>
                  <a:schemeClr val="bg1"/>
                </a:solidFill>
              </a:rPr>
              <a:t> IJCAI.</a:t>
            </a:r>
          </a:p>
          <a:p>
            <a:r>
              <a:rPr lang="en-IN" sz="1800" dirty="0">
                <a:solidFill>
                  <a:schemeClr val="bg1"/>
                </a:solidFill>
              </a:rPr>
              <a:t>5. Kaggle Datasets: </a:t>
            </a:r>
            <a:r>
              <a:rPr lang="en-IN" sz="1800" i="1" dirty="0">
                <a:solidFill>
                  <a:schemeClr val="bg1"/>
                </a:solidFill>
              </a:rPr>
              <a:t>Financial News Dataset, DJIA News Headlines, </a:t>
            </a:r>
            <a:r>
              <a:rPr lang="en-IN" sz="1800" i="1" dirty="0" err="1">
                <a:solidFill>
                  <a:schemeClr val="bg1"/>
                </a:solidFill>
              </a:rPr>
              <a:t>StockNet</a:t>
            </a:r>
            <a:r>
              <a:rPr lang="en-IN" sz="1800" i="1" dirty="0">
                <a:solidFill>
                  <a:schemeClr val="bg1"/>
                </a:solidFill>
              </a:rPr>
              <a:t> Dataset.</a:t>
            </a:r>
            <a:endParaRPr lang="en-IN" sz="18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bg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E1FC3F-8C3B-64AC-B2F1-298B05DE6B7F}"/>
              </a:ext>
            </a:extLst>
          </p:cNvPr>
          <p:cNvSpPr txBox="1"/>
          <p:nvPr/>
        </p:nvSpPr>
        <p:spPr>
          <a:xfrm>
            <a:off x="775663" y="1125200"/>
            <a:ext cx="68296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6. Hutto, C., &amp; Gilbert, E. (2014). VADER: A parsimonious rule-based model for sentiment analysis of social media text. </a:t>
            </a:r>
            <a:r>
              <a:rPr lang="en-IN" sz="1800" i="1" dirty="0">
                <a:solidFill>
                  <a:schemeClr val="bg1"/>
                </a:solidFill>
              </a:rPr>
              <a:t>ICWSM</a:t>
            </a:r>
            <a:r>
              <a:rPr lang="en-IN" sz="1800" dirty="0">
                <a:solidFill>
                  <a:schemeClr val="bg1"/>
                </a:solidFill>
              </a:rPr>
              <a:t>.</a:t>
            </a:r>
          </a:p>
          <a:p>
            <a:r>
              <a:rPr lang="en-IN" sz="1800" dirty="0">
                <a:solidFill>
                  <a:schemeClr val="bg1"/>
                </a:solidFill>
              </a:rPr>
              <a:t>7. Yahoo Finance Datasets. https://finance.yahoo.com</a:t>
            </a:r>
          </a:p>
          <a:p>
            <a:r>
              <a:rPr lang="en-IN" sz="1800" dirty="0">
                <a:solidFill>
                  <a:schemeClr val="bg1"/>
                </a:solidFill>
              </a:rPr>
              <a:t>8. Bloomberg Market News. https://www.bloomberg.com/markets</a:t>
            </a:r>
          </a:p>
          <a:p>
            <a:r>
              <a:rPr lang="en-IN" sz="1800" dirty="0">
                <a:solidFill>
                  <a:schemeClr val="bg1"/>
                </a:solidFill>
              </a:rPr>
              <a:t>9. Ding, X., Zhang, Y., Liu, T., &amp; Duan, J. (2015). Deep learning for event-driven stock prediction. </a:t>
            </a:r>
            <a:r>
              <a:rPr lang="en-IN" sz="1800" i="1" dirty="0">
                <a:solidFill>
                  <a:schemeClr val="bg1"/>
                </a:solidFill>
              </a:rPr>
              <a:t>IJCAI</a:t>
            </a:r>
            <a:r>
              <a:rPr lang="en-IN" sz="1800" dirty="0">
                <a:solidFill>
                  <a:schemeClr val="bg1"/>
                </a:solidFill>
              </a:rPr>
              <a:t>.</a:t>
            </a:r>
          </a:p>
          <a:p>
            <a:r>
              <a:rPr lang="en-IN" sz="1800" dirty="0">
                <a:solidFill>
                  <a:schemeClr val="bg1"/>
                </a:solidFill>
              </a:rPr>
              <a:t>10. Xu, Y., Cohen, S. B., &amp; Wallach, H. (2018). Stock movement prediction from tweets and historical prices. </a:t>
            </a:r>
            <a:r>
              <a:rPr lang="en-IN" sz="1800" i="1" dirty="0">
                <a:solidFill>
                  <a:schemeClr val="bg1"/>
                </a:solidFill>
              </a:rPr>
              <a:t>ACL</a:t>
            </a:r>
            <a:r>
              <a:rPr lang="en-IN" sz="1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448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55D8-C539-2C7D-CB9B-EBB52C03A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517" y="1466023"/>
            <a:ext cx="7026965" cy="2216426"/>
          </a:xfrm>
        </p:spPr>
        <p:txBody>
          <a:bodyPr/>
          <a:lstStyle/>
          <a:p>
            <a:r>
              <a:rPr lang="en-US" sz="4400" b="1" dirty="0"/>
              <a:t>Time-Sensitive Emotion Analysis of Financial News Headlines for Stock Market Prediction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05E-C232-98D0-6848-A3C727665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052" y="3677477"/>
            <a:ext cx="2733261" cy="1043609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D. Manogyna Satya Reddy</a:t>
            </a:r>
          </a:p>
          <a:p>
            <a:r>
              <a:rPr lang="en-US" sz="1600" dirty="0">
                <a:solidFill>
                  <a:schemeClr val="bg1"/>
                </a:solidFill>
              </a:rPr>
              <a:t>Tanushree Rathore</a:t>
            </a:r>
          </a:p>
          <a:p>
            <a:r>
              <a:rPr lang="en-US" sz="1600" dirty="0">
                <a:solidFill>
                  <a:schemeClr val="bg1"/>
                </a:solidFill>
              </a:rPr>
              <a:t>K. Lakshmi Sowjanya</a:t>
            </a:r>
            <a:endParaRPr lang="en-IN" sz="16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717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6DCFAA-57F6-5D1B-0E95-79C4494F0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4" y="1192157"/>
            <a:ext cx="8256818" cy="317112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Traditional stock market prediction models:</a:t>
            </a:r>
          </a:p>
          <a:p>
            <a:r>
              <a:rPr lang="en-US" dirty="0"/>
              <a:t>Rely mainly on historical prices</a:t>
            </a:r>
          </a:p>
          <a:p>
            <a:r>
              <a:rPr lang="en-US" dirty="0"/>
              <a:t>Treat all news equally</a:t>
            </a:r>
          </a:p>
          <a:p>
            <a:r>
              <a:rPr lang="en-US" dirty="0"/>
              <a:t>Ignore emotional intensity</a:t>
            </a:r>
          </a:p>
          <a:p>
            <a:r>
              <a:rPr lang="en-US" dirty="0"/>
              <a:t>Ignore timing of news impact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Research Objective:</a:t>
            </a:r>
            <a:endParaRPr lang="en-US" dirty="0"/>
          </a:p>
          <a:p>
            <a:r>
              <a:rPr lang="en-US" dirty="0"/>
              <a:t>To predict next-day S&amp;P 500 movement (Up / Down / Stable) using:</a:t>
            </a:r>
          </a:p>
          <a:p>
            <a:r>
              <a:rPr lang="en-US" dirty="0"/>
              <a:t>Sentiment analysis</a:t>
            </a:r>
          </a:p>
          <a:p>
            <a:r>
              <a:rPr lang="en-US" dirty="0"/>
              <a:t>Time-weighted features</a:t>
            </a:r>
          </a:p>
          <a:p>
            <a:r>
              <a:rPr lang="en-US" dirty="0"/>
              <a:t>Machine learning models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EB0EB5-7EF2-EE4E-5220-FF3C83222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411675"/>
            <a:ext cx="3267375" cy="57780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3990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C214C3-2E87-AC7F-84AF-FB5AF725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5" y="989474"/>
            <a:ext cx="7461688" cy="340362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Dataset:</a:t>
            </a:r>
            <a:r>
              <a:rPr lang="en-US" dirty="0"/>
              <a:t> S&amp;P 500 Headlines (2008–2024)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Columns:</a:t>
            </a:r>
          </a:p>
          <a:p>
            <a:r>
              <a:rPr lang="en-US" dirty="0"/>
              <a:t>Title → News headline</a:t>
            </a:r>
          </a:p>
          <a:p>
            <a:r>
              <a:rPr lang="en-US" dirty="0"/>
              <a:t>Date → Publishing date</a:t>
            </a:r>
          </a:p>
          <a:p>
            <a:r>
              <a:rPr lang="en-US" dirty="0"/>
              <a:t>CP → Closing Price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we did:</a:t>
            </a:r>
          </a:p>
          <a:p>
            <a:r>
              <a:rPr lang="en-US" dirty="0"/>
              <a:t>Sorted data by date</a:t>
            </a:r>
          </a:p>
          <a:p>
            <a:r>
              <a:rPr lang="en-US" dirty="0"/>
              <a:t>Created next-day closing price</a:t>
            </a:r>
          </a:p>
          <a:p>
            <a:r>
              <a:rPr lang="en-US" dirty="0"/>
              <a:t>Converted price movement into classification labels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3F5C5F-00C9-BA35-762E-7B12EEE4B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411675"/>
            <a:ext cx="3177923" cy="577800"/>
          </a:xfrm>
        </p:spPr>
        <p:txBody>
          <a:bodyPr/>
          <a:lstStyle/>
          <a:p>
            <a:r>
              <a:rPr lang="en-IN" dirty="0"/>
              <a:t>Dataset Description</a:t>
            </a:r>
          </a:p>
        </p:txBody>
      </p:sp>
    </p:spTree>
    <p:extLst>
      <p:ext uri="{BB962C8B-B14F-4D97-AF65-F5344CB8AC3E}">
        <p14:creationId xmlns:p14="http://schemas.microsoft.com/office/powerpoint/2010/main" val="2306819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ABAFFB-1715-A85B-AA5A-F2895E05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4" y="1271671"/>
            <a:ext cx="5841610" cy="20901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Market Movement Label:</a:t>
            </a:r>
          </a:p>
          <a:p>
            <a:pPr marL="114300" indent="0">
              <a:buNone/>
            </a:pPr>
            <a:r>
              <a:rPr lang="en-US" dirty="0"/>
              <a:t>If </a:t>
            </a:r>
            <a:r>
              <a:rPr lang="en-US" dirty="0" err="1"/>
              <a:t>next_close</a:t>
            </a:r>
            <a:r>
              <a:rPr lang="en-US" dirty="0"/>
              <a:t> &gt; close → </a:t>
            </a:r>
            <a:r>
              <a:rPr lang="en-US" b="1" dirty="0"/>
              <a:t>Up (1)</a:t>
            </a:r>
            <a:br>
              <a:rPr lang="en-US" dirty="0"/>
            </a:br>
            <a:r>
              <a:rPr lang="en-US" dirty="0"/>
              <a:t>If </a:t>
            </a:r>
            <a:r>
              <a:rPr lang="en-US" dirty="0" err="1"/>
              <a:t>next_close</a:t>
            </a:r>
            <a:r>
              <a:rPr lang="en-US" dirty="0"/>
              <a:t> &lt; close → </a:t>
            </a:r>
            <a:r>
              <a:rPr lang="en-US" b="1" dirty="0"/>
              <a:t>Down (0)</a:t>
            </a:r>
            <a:br>
              <a:rPr lang="en-US" dirty="0"/>
            </a:br>
            <a:r>
              <a:rPr lang="en-US" dirty="0"/>
              <a:t>Else → </a:t>
            </a:r>
            <a:r>
              <a:rPr lang="en-US" b="1" dirty="0"/>
              <a:t>Stable (2)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This converts the problem from:</a:t>
            </a:r>
          </a:p>
          <a:p>
            <a:r>
              <a:rPr lang="en-US" dirty="0"/>
              <a:t>Regression → Classification</a:t>
            </a:r>
          </a:p>
          <a:p>
            <a:r>
              <a:rPr lang="en-US" dirty="0"/>
              <a:t>This allows easier model comparison.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3DC56-79FC-B76B-2AEC-69EB77B8C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411675"/>
            <a:ext cx="3426401" cy="577800"/>
          </a:xfrm>
        </p:spPr>
        <p:txBody>
          <a:bodyPr/>
          <a:lstStyle/>
          <a:p>
            <a:r>
              <a:rPr lang="en-IN" dirty="0"/>
              <a:t>Target Label Creation</a:t>
            </a:r>
          </a:p>
        </p:txBody>
      </p:sp>
    </p:spTree>
    <p:extLst>
      <p:ext uri="{BB962C8B-B14F-4D97-AF65-F5344CB8AC3E}">
        <p14:creationId xmlns:p14="http://schemas.microsoft.com/office/powerpoint/2010/main" val="200150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065043-A674-E713-F444-C7113743D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5" y="989475"/>
            <a:ext cx="6865340" cy="3240156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Project Pipeline:   </a:t>
            </a:r>
            <a:r>
              <a:rPr lang="en-IN" dirty="0"/>
              <a:t>Headlines</a:t>
            </a:r>
            <a:br>
              <a:rPr lang="en-IN" dirty="0"/>
            </a:br>
            <a:r>
              <a:rPr lang="en-IN" dirty="0"/>
              <a:t>                                    ↓</a:t>
            </a:r>
            <a:br>
              <a:rPr lang="en-IN" dirty="0"/>
            </a:br>
            <a:r>
              <a:rPr lang="en-IN" dirty="0"/>
              <a:t>                 Sentiment Analysis (VADER)</a:t>
            </a:r>
            <a:br>
              <a:rPr lang="en-IN" dirty="0"/>
            </a:br>
            <a:r>
              <a:rPr lang="en-IN" dirty="0"/>
              <a:t>                                    ↓</a:t>
            </a:r>
            <a:br>
              <a:rPr lang="en-IN" dirty="0"/>
            </a:br>
            <a:r>
              <a:rPr lang="en-IN" dirty="0"/>
              <a:t>                        Time Weighting</a:t>
            </a:r>
            <a:br>
              <a:rPr lang="en-IN" dirty="0"/>
            </a:br>
            <a:r>
              <a:rPr lang="en-IN" dirty="0"/>
              <a:t>                                    ↓</a:t>
            </a:r>
            <a:br>
              <a:rPr lang="en-IN" dirty="0"/>
            </a:br>
            <a:r>
              <a:rPr lang="en-IN" dirty="0"/>
              <a:t>                    Feature Engineering</a:t>
            </a:r>
            <a:br>
              <a:rPr lang="en-IN" dirty="0"/>
            </a:br>
            <a:r>
              <a:rPr lang="en-IN" dirty="0"/>
              <a:t>                                    ↓</a:t>
            </a:r>
            <a:br>
              <a:rPr lang="en-IN" dirty="0"/>
            </a:br>
            <a:r>
              <a:rPr lang="en-IN" dirty="0"/>
              <a:t>                  Machine Learning Models</a:t>
            </a:r>
            <a:br>
              <a:rPr lang="en-IN" dirty="0"/>
            </a:br>
            <a:r>
              <a:rPr lang="en-IN" dirty="0"/>
              <a:t>                                    ↓</a:t>
            </a:r>
            <a:br>
              <a:rPr lang="en-IN" dirty="0"/>
            </a:br>
            <a:r>
              <a:rPr lang="en-IN" dirty="0"/>
              <a:t>                    Prediction &amp; Evaluation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199A5B-2AC1-6EA7-61B7-44E20FAE6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5" y="411675"/>
            <a:ext cx="3714636" cy="577800"/>
          </a:xfrm>
        </p:spPr>
        <p:txBody>
          <a:bodyPr/>
          <a:lstStyle/>
          <a:p>
            <a:r>
              <a:rPr lang="en-IN" dirty="0"/>
              <a:t>Methodology Overview</a:t>
            </a:r>
          </a:p>
        </p:txBody>
      </p:sp>
    </p:spTree>
    <p:extLst>
      <p:ext uri="{BB962C8B-B14F-4D97-AF65-F5344CB8AC3E}">
        <p14:creationId xmlns:p14="http://schemas.microsoft.com/office/powerpoint/2010/main" val="3829377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783EED-DC48-5DF1-7D2B-81C119641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641" y="1172279"/>
            <a:ext cx="6428018" cy="20901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Tool Used:</a:t>
            </a:r>
            <a:br>
              <a:rPr lang="en-US" dirty="0"/>
            </a:br>
            <a:r>
              <a:rPr lang="en-US" dirty="0"/>
              <a:t>VADER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VADER provides:</a:t>
            </a:r>
          </a:p>
          <a:p>
            <a:r>
              <a:rPr lang="en-US" dirty="0"/>
              <a:t>Compound score between -1 and +1</a:t>
            </a:r>
          </a:p>
          <a:p>
            <a:r>
              <a:rPr lang="en-US" dirty="0"/>
              <a:t>Negative → Fear</a:t>
            </a:r>
          </a:p>
          <a:p>
            <a:r>
              <a:rPr lang="en-US" dirty="0"/>
              <a:t>Positive → Optimism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Example:</a:t>
            </a:r>
          </a:p>
          <a:p>
            <a:pPr marL="114300" indent="0">
              <a:buNone/>
            </a:pPr>
            <a:r>
              <a:rPr lang="en-US" dirty="0"/>
              <a:t>Headline: “Market crashes due to inflation fears”</a:t>
            </a:r>
            <a:br>
              <a:rPr lang="en-US" dirty="0"/>
            </a:br>
            <a:r>
              <a:rPr lang="en-US" dirty="0"/>
              <a:t>Sentiment Score: -0.82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4DE2A-40F9-8357-2D2F-BE56D944A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4" y="371919"/>
            <a:ext cx="3128227" cy="577800"/>
          </a:xfrm>
        </p:spPr>
        <p:txBody>
          <a:bodyPr/>
          <a:lstStyle/>
          <a:p>
            <a:r>
              <a:rPr lang="en-IN" dirty="0"/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3733272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1A5502-FB9B-BF03-59D3-10DE8DB1F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033" y="1251792"/>
            <a:ext cx="7004488" cy="233623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Since dataset contains only date (not intraday time),</a:t>
            </a:r>
            <a:br>
              <a:rPr lang="en-US" dirty="0"/>
            </a:br>
            <a:r>
              <a:rPr lang="en-US" dirty="0"/>
              <a:t>we assumed pre-market impact.</a:t>
            </a:r>
          </a:p>
          <a:p>
            <a:pPr marL="114300" indent="0">
              <a:buNone/>
            </a:pPr>
            <a:r>
              <a:rPr lang="en-US" dirty="0"/>
              <a:t>Time weight = 1.5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Formula:</a:t>
            </a:r>
          </a:p>
          <a:p>
            <a:pPr marL="114300" indent="0">
              <a:buNone/>
            </a:pPr>
            <a:r>
              <a:rPr lang="en-US" dirty="0" err="1"/>
              <a:t>weighted_sentiment</a:t>
            </a:r>
            <a:r>
              <a:rPr lang="en-US" dirty="0"/>
              <a:t> = </a:t>
            </a:r>
            <a:r>
              <a:rPr lang="en-US" dirty="0" err="1"/>
              <a:t>sentiment_score</a:t>
            </a:r>
            <a:r>
              <a:rPr lang="en-US" dirty="0"/>
              <a:t> × </a:t>
            </a:r>
            <a:r>
              <a:rPr lang="en-US" dirty="0" err="1"/>
              <a:t>time_weight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Additional features:</a:t>
            </a:r>
          </a:p>
          <a:p>
            <a:pPr marL="114300" indent="0">
              <a:buNone/>
            </a:pPr>
            <a:r>
              <a:rPr lang="en-US" dirty="0"/>
              <a:t>Fear = absolute value of negative sentiment</a:t>
            </a:r>
          </a:p>
          <a:p>
            <a:pPr marL="114300" indent="0">
              <a:buNone/>
            </a:pPr>
            <a:r>
              <a:rPr lang="en-US" dirty="0"/>
              <a:t>Optimism = positive sentiment score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09E813-41D3-A19D-7E08-E17D5099E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5" y="411675"/>
            <a:ext cx="3734514" cy="577800"/>
          </a:xfrm>
        </p:spPr>
        <p:txBody>
          <a:bodyPr/>
          <a:lstStyle/>
          <a:p>
            <a:r>
              <a:rPr lang="en-IN" dirty="0"/>
              <a:t>Time-Weighted Feature</a:t>
            </a:r>
          </a:p>
        </p:txBody>
      </p:sp>
    </p:spTree>
    <p:extLst>
      <p:ext uri="{BB962C8B-B14F-4D97-AF65-F5344CB8AC3E}">
        <p14:creationId xmlns:p14="http://schemas.microsoft.com/office/powerpoint/2010/main" val="760956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3FB9BE-6C76-C216-5140-C02AECB59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5" y="1361123"/>
            <a:ext cx="5931062" cy="2266660"/>
          </a:xfrm>
        </p:spPr>
        <p:txBody>
          <a:bodyPr/>
          <a:lstStyle/>
          <a:p>
            <a:r>
              <a:rPr lang="en-US" dirty="0"/>
              <a:t>Logistic Regression (Baseline Model)</a:t>
            </a:r>
          </a:p>
          <a:p>
            <a:r>
              <a:rPr lang="en-US" dirty="0"/>
              <a:t>Time-Weighted Logistic Regression</a:t>
            </a:r>
          </a:p>
          <a:p>
            <a:r>
              <a:rPr lang="en-US" dirty="0" err="1"/>
              <a:t>XGBoost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Why compare?</a:t>
            </a:r>
          </a:p>
          <a:p>
            <a:r>
              <a:rPr lang="en-US" dirty="0"/>
              <a:t>Baseline linear model</a:t>
            </a:r>
          </a:p>
          <a:p>
            <a:r>
              <a:rPr lang="en-US" dirty="0"/>
              <a:t>Advanced ensemble model</a:t>
            </a:r>
          </a:p>
          <a:p>
            <a:r>
              <a:rPr lang="en-US" dirty="0"/>
              <a:t>Evaluate effect of feature engineering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062AAF-9717-8498-EB57-3D85D60A2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Models Used</a:t>
            </a:r>
          </a:p>
        </p:txBody>
      </p:sp>
    </p:spTree>
    <p:extLst>
      <p:ext uri="{BB962C8B-B14F-4D97-AF65-F5344CB8AC3E}">
        <p14:creationId xmlns:p14="http://schemas.microsoft.com/office/powerpoint/2010/main" val="355368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CD063B-9A84-5A4D-BF05-CA3C5FE6C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825" y="1251793"/>
            <a:ext cx="6924975" cy="2090100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Model Performance:</a:t>
            </a:r>
          </a:p>
          <a:p>
            <a:pPr marL="114300" indent="0">
              <a:buNone/>
            </a:pPr>
            <a:r>
              <a:rPr lang="en-IN" dirty="0"/>
              <a:t>Baseline Accuracy: </a:t>
            </a:r>
            <a:r>
              <a:rPr lang="en-IN" b="1" dirty="0"/>
              <a:t>0.814</a:t>
            </a:r>
            <a:br>
              <a:rPr lang="en-IN" dirty="0"/>
            </a:br>
            <a:r>
              <a:rPr lang="en-IN" dirty="0"/>
              <a:t>Time-Weighted Accuracy: </a:t>
            </a:r>
            <a:r>
              <a:rPr lang="en-IN" b="1" dirty="0"/>
              <a:t>0.814</a:t>
            </a:r>
            <a:br>
              <a:rPr lang="en-IN" dirty="0"/>
            </a:br>
            <a:r>
              <a:rPr lang="en-IN" dirty="0" err="1"/>
              <a:t>XGBoost</a:t>
            </a:r>
            <a:r>
              <a:rPr lang="en-IN" dirty="0"/>
              <a:t> Accuracy: </a:t>
            </a:r>
            <a:r>
              <a:rPr lang="en-IN" b="1" dirty="0"/>
              <a:t>0.814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/>
              <a:t>Observation:</a:t>
            </a:r>
          </a:p>
          <a:p>
            <a:r>
              <a:rPr lang="en-IN" dirty="0"/>
              <a:t>Similar accuracy across models</a:t>
            </a:r>
          </a:p>
          <a:p>
            <a:r>
              <a:rPr lang="en-IN" dirty="0"/>
              <a:t>Dataset shows class imbalance</a:t>
            </a:r>
          </a:p>
          <a:p>
            <a:r>
              <a:rPr lang="en-IN" dirty="0"/>
              <a:t>Market movement difficult to predict using headlines alone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C836C2-912E-4DBB-B21A-35895C960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720042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93B5AD-52E0-49F4-9D04-2B8935DEB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912" y="1241853"/>
            <a:ext cx="7421932" cy="20901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Conclusion:</a:t>
            </a:r>
          </a:p>
          <a:p>
            <a:r>
              <a:rPr lang="en-US" dirty="0"/>
              <a:t>Successfully built full sentiment-based prediction pipeline</a:t>
            </a:r>
          </a:p>
          <a:p>
            <a:r>
              <a:rPr lang="en-US" dirty="0"/>
              <a:t>Created movement labels from real S&amp;P 500 data</a:t>
            </a:r>
          </a:p>
          <a:p>
            <a:r>
              <a:rPr lang="en-US" dirty="0"/>
              <a:t>Compared baseline and weighted models</a:t>
            </a:r>
          </a:p>
          <a:p>
            <a:r>
              <a:rPr lang="en-US" dirty="0"/>
              <a:t>Demonstrated challenges of financial forecasting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Future Scope:</a:t>
            </a:r>
          </a:p>
          <a:p>
            <a:r>
              <a:rPr lang="en-US" dirty="0"/>
              <a:t>Add intraday timestamps</a:t>
            </a:r>
          </a:p>
          <a:p>
            <a:r>
              <a:rPr lang="en-US" dirty="0"/>
              <a:t>Include macroeconomic indicators</a:t>
            </a:r>
          </a:p>
          <a:p>
            <a:r>
              <a:rPr lang="en-US" dirty="0"/>
              <a:t>Use deep learning models (LSTM / </a:t>
            </a:r>
            <a:r>
              <a:rPr lang="en-US" dirty="0" err="1"/>
              <a:t>FinBERT</a:t>
            </a:r>
            <a:r>
              <a:rPr lang="en-US" dirty="0"/>
              <a:t>)</a:t>
            </a:r>
          </a:p>
          <a:p>
            <a:r>
              <a:rPr lang="en-US" dirty="0"/>
              <a:t>Develop real-time dashboard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44B7E-5A8A-D2B7-E28A-8217EFF1D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25" y="411675"/>
            <a:ext cx="4151958" cy="577800"/>
          </a:xfrm>
        </p:spPr>
        <p:txBody>
          <a:bodyPr/>
          <a:lstStyle/>
          <a:p>
            <a:r>
              <a:rPr lang="en-IN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89121201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A71334"/>
      </a:dk1>
      <a:lt1>
        <a:srgbClr val="FFFFFF"/>
      </a:lt1>
      <a:dk2>
        <a:srgbClr val="3A030A"/>
      </a:dk2>
      <a:lt2>
        <a:srgbClr val="C4FFD8"/>
      </a:lt2>
      <a:accent1>
        <a:srgbClr val="35D87B"/>
      </a:accent1>
      <a:accent2>
        <a:srgbClr val="FA5780"/>
      </a:accent2>
      <a:accent3>
        <a:srgbClr val="00FFC6"/>
      </a:accent3>
      <a:accent4>
        <a:srgbClr val="24D553"/>
      </a:accent4>
      <a:accent5>
        <a:srgbClr val="E462BC"/>
      </a:accent5>
      <a:accent6>
        <a:srgbClr val="00FCA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1256</Words>
  <Application>Microsoft Office PowerPoint</Application>
  <PresentationFormat>On-screen Show (16:9)</PresentationFormat>
  <Paragraphs>144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Fira Sans Extra Condensed Medium</vt:lpstr>
      <vt:lpstr>Share Tech</vt:lpstr>
      <vt:lpstr>Bahnschrift Light</vt:lpstr>
      <vt:lpstr>Maven Pro</vt:lpstr>
      <vt:lpstr>Fira Sans Condensed Medium</vt:lpstr>
      <vt:lpstr>Arial</vt:lpstr>
      <vt:lpstr>Data Science Consulting by Slidesgo</vt:lpstr>
      <vt:lpstr>Time-Sensitive Emotion Analysis of Financial News Headlines for Stock Market Prediction</vt:lpstr>
      <vt:lpstr>PROBLEM STATEMENT</vt:lpstr>
      <vt:lpstr>ABSTRACT</vt:lpstr>
      <vt:lpstr>METHODOLOGY</vt:lpstr>
      <vt:lpstr>DATASETS</vt:lpstr>
      <vt:lpstr>SOFTWARE AND HARDWARE REQUIREMENTS</vt:lpstr>
      <vt:lpstr>CONCLUSION</vt:lpstr>
      <vt:lpstr>KEY FEATURES </vt:lpstr>
      <vt:lpstr>FUTURE SCOPE</vt:lpstr>
      <vt:lpstr>REFERENCES</vt:lpstr>
      <vt:lpstr>PowerPoint Presentation</vt:lpstr>
      <vt:lpstr>Time-Sensitive Emotion Analysis of Financial News Headlines for Stock Market Prediction</vt:lpstr>
      <vt:lpstr>Problem Statement</vt:lpstr>
      <vt:lpstr>Dataset Description</vt:lpstr>
      <vt:lpstr>Target Label Creation</vt:lpstr>
      <vt:lpstr>Methodology Overview</vt:lpstr>
      <vt:lpstr>Sentiment Analysis</vt:lpstr>
      <vt:lpstr>Time-Weighted Feature</vt:lpstr>
      <vt:lpstr>Models Used</vt:lpstr>
      <vt:lpstr>Results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Manogyna Satya Reddy Dadireddy</cp:lastModifiedBy>
  <cp:revision>2</cp:revision>
  <dcterms:modified xsi:type="dcterms:W3CDTF">2026-02-15T11:02:07Z</dcterms:modified>
</cp:coreProperties>
</file>